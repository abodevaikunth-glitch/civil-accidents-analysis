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70" r:id="rId11"/>
    <p:sldId id="268" r:id="rId12"/>
    <p:sldId id="269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37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270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779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413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613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426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86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6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734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121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203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612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702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891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195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9258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36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46B165E-9465-4454-B816-1C014F182AE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2F5D484-0820-4236-AD3A-45DD483FD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90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8780B-D080-19ED-36C7-9C35C73574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1938" y="2365901"/>
            <a:ext cx="7188122" cy="796975"/>
          </a:xfrm>
        </p:spPr>
        <p:txBody>
          <a:bodyPr/>
          <a:lstStyle/>
          <a:p>
            <a:r>
              <a:rPr lang="en-US" dirty="0"/>
              <a:t>Civil aviation accidents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C3F8D-BD58-BBDB-692D-95B70EEC4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3" y="3365292"/>
            <a:ext cx="8637072" cy="1039609"/>
          </a:xfrm>
        </p:spPr>
        <p:txBody>
          <a:bodyPr>
            <a:normAutofit/>
          </a:bodyPr>
          <a:lstStyle/>
          <a:p>
            <a:r>
              <a:rPr lang="en-US" b="1" i="1" dirty="0"/>
              <a:t>Data analytics &amp; reporting</a:t>
            </a:r>
          </a:p>
          <a:p>
            <a:r>
              <a:rPr lang="en-US" b="1" i="1" dirty="0"/>
              <a:t>Submitted to – Mrs. Deepika Tiwari</a:t>
            </a:r>
            <a:endParaRPr lang="en-IN" b="1" i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C798294-183C-6AA5-AC59-B8A75E8A5D77}"/>
              </a:ext>
            </a:extLst>
          </p:cNvPr>
          <p:cNvSpPr txBox="1">
            <a:spLocks/>
          </p:cNvSpPr>
          <p:nvPr/>
        </p:nvSpPr>
        <p:spPr>
          <a:xfrm>
            <a:off x="1777462" y="5049478"/>
            <a:ext cx="8637072" cy="1359402"/>
          </a:xfrm>
          <a:prstGeom prst="rect">
            <a:avLst/>
          </a:prstGeom>
        </p:spPr>
        <p:txBody>
          <a:bodyPr vert="horz" lIns="91440" tIns="91440" rIns="91440" bIns="9144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Submitted by – </a:t>
            </a:r>
          </a:p>
          <a:p>
            <a:pPr marL="342900" indent="-342900" algn="ctr">
              <a:buAutoNum type="arabicPeriod"/>
            </a:pPr>
            <a:r>
              <a:rPr lang="en-US" b="1" dirty="0"/>
              <a:t>Avanish Yadav (202410101150187)</a:t>
            </a:r>
          </a:p>
          <a:p>
            <a:pPr marL="342900" indent="-342900" algn="ctr">
              <a:buAutoNum type="arabicPeriod"/>
            </a:pPr>
            <a:r>
              <a:rPr lang="en-US" b="1" dirty="0"/>
              <a:t>Aditya Singh Kushwaha (202410101150190)</a:t>
            </a:r>
            <a:endParaRPr lang="en-IN" b="1" dirty="0"/>
          </a:p>
        </p:txBody>
      </p:sp>
      <p:pic>
        <p:nvPicPr>
          <p:cNvPr id="1026" name="Picture 2" descr="SRMU (@srmu_lucknow) / Posts / X">
            <a:extLst>
              <a:ext uri="{FF2B5EF4-FFF2-40B4-BE49-F238E27FC236}">
                <a16:creationId xmlns:a16="http://schemas.microsoft.com/office/drawing/2014/main" id="{AEAD5389-2EA0-4A98-DDCB-88F37A7D8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4167" l="6250" r="96250">
                        <a14:foregroundMark x1="19583" y1="20833" x2="19583" y2="20833"/>
                        <a14:foregroundMark x1="19583" y1="20833" x2="10833" y2="40000"/>
                        <a14:foregroundMark x1="10833" y1="40000" x2="10000" y2="62917"/>
                        <a14:foregroundMark x1="10000" y1="62917" x2="21250" y2="85417"/>
                        <a14:foregroundMark x1="21250" y1="85417" x2="41667" y2="92500"/>
                        <a14:foregroundMark x1="41667" y1="92500" x2="67083" y2="91250"/>
                        <a14:foregroundMark x1="67083" y1="91250" x2="85000" y2="77083"/>
                        <a14:foregroundMark x1="85000" y1="77083" x2="94583" y2="54583"/>
                        <a14:foregroundMark x1="94583" y1="54583" x2="85833" y2="30417"/>
                        <a14:foregroundMark x1="85833" y1="30417" x2="67083" y2="14167"/>
                        <a14:foregroundMark x1="67083" y1="14167" x2="43750" y2="10833"/>
                        <a14:foregroundMark x1="43750" y1="10833" x2="22083" y2="19167"/>
                        <a14:foregroundMark x1="22083" y1="19167" x2="20000" y2="20833"/>
                        <a14:foregroundMark x1="12083" y1="29167" x2="6250" y2="55417"/>
                        <a14:foregroundMark x1="6250" y1="55417" x2="14583" y2="80000"/>
                        <a14:foregroundMark x1="14583" y1="80000" x2="17917" y2="82917"/>
                        <a14:foregroundMark x1="39167" y1="92917" x2="71250" y2="90833"/>
                        <a14:foregroundMark x1="74583" y1="90000" x2="50417" y2="96667"/>
                        <a14:foregroundMark x1="50417" y1="96667" x2="26250" y2="94167"/>
                        <a14:foregroundMark x1="26250" y1="94167" x2="23333" y2="90000"/>
                        <a14:foregroundMark x1="79583" y1="80417" x2="90833" y2="51250"/>
                        <a14:foregroundMark x1="90833" y1="51250" x2="80417" y2="25833"/>
                        <a14:foregroundMark x1="80417" y1="25833" x2="71250" y2="17917"/>
                        <a14:foregroundMark x1="71250" y1="15417" x2="71250" y2="15417"/>
                        <a14:foregroundMark x1="71250" y1="14583" x2="91250" y2="32917"/>
                        <a14:foregroundMark x1="91250" y1="32917" x2="96250" y2="42917"/>
                        <a14:foregroundMark x1="33750" y1="13333" x2="25833" y2="15417"/>
                        <a14:foregroundMark x1="38333" y1="10000" x2="30000" y2="13333"/>
                        <a14:foregroundMark x1="62500" y1="11667" x2="83750" y2="22500"/>
                        <a14:foregroundMark x1="95417" y1="49583" x2="95417" y2="63333"/>
                        <a14:foregroundMark x1="94167" y1="65833" x2="75833" y2="91667"/>
                        <a14:foregroundMark x1="92917" y1="74583" x2="87083" y2="75833"/>
                        <a14:foregroundMark x1="74583" y1="17917" x2="60000" y2="10000"/>
                        <a14:foregroundMark x1="75833" y1="16667" x2="70000" y2="14167"/>
                        <a14:foregroundMark x1="77917" y1="17917" x2="65417" y2="120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633" y="208819"/>
            <a:ext cx="1740734" cy="1740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968E013-648A-48D7-193F-A2EDC0B1935C}"/>
              </a:ext>
            </a:extLst>
          </p:cNvPr>
          <p:cNvSpPr txBox="1">
            <a:spLocks/>
          </p:cNvSpPr>
          <p:nvPr/>
        </p:nvSpPr>
        <p:spPr>
          <a:xfrm>
            <a:off x="3018925" y="1904984"/>
            <a:ext cx="6154148" cy="505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/>
              <a:t>Shree Ramswaroop memorial university</a:t>
            </a:r>
            <a:endParaRPr lang="en-IN" b="1" i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B8A8FEF-401A-547C-2BCB-5FC3F69EBF41}"/>
              </a:ext>
            </a:extLst>
          </p:cNvPr>
          <p:cNvSpPr txBox="1">
            <a:spLocks/>
          </p:cNvSpPr>
          <p:nvPr/>
        </p:nvSpPr>
        <p:spPr>
          <a:xfrm>
            <a:off x="4331470" y="4543992"/>
            <a:ext cx="3529055" cy="505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 dirty="0">
                <a:solidFill>
                  <a:schemeClr val="tx1"/>
                </a:solidFill>
              </a:rPr>
              <a:t>B.Tech cs(ds+ai) Group-37</a:t>
            </a:r>
            <a:endParaRPr lang="en-IN" sz="20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880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24FFB-BD69-C7FE-F132-9E2B160F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7F2FA-8494-980A-7C1D-701AE35C3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C9FC3C5-2474-1DB5-F811-EC9AB1389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319473" y="1619860"/>
            <a:ext cx="6415473" cy="4031431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rmAutofit fontScale="92500"/>
          </a:bodyPr>
          <a:lstStyle/>
          <a:p>
            <a:pPr algn="r"/>
            <a:r>
              <a:rPr lang="en-IN" sz="1800" cap="none" dirty="0">
                <a:solidFill>
                  <a:schemeClr val="accent1"/>
                </a:solidFill>
                <a:latin typeface="Bookman Old Style" panose="02050604050505020204" pitchFamily="18" charset="0"/>
              </a:rPr>
              <a:t>Import</a:t>
            </a:r>
            <a:r>
              <a:rPr lang="en-IN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 pandas </a:t>
            </a:r>
            <a:r>
              <a:rPr lang="en-IN" sz="1800" cap="none" dirty="0">
                <a:solidFill>
                  <a:schemeClr val="accent1"/>
                </a:solidFill>
                <a:latin typeface="Bookman Old Style" panose="02050604050505020204" pitchFamily="18" charset="0"/>
              </a:rPr>
              <a:t>as</a:t>
            </a:r>
            <a:r>
              <a:rPr lang="en-IN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 pd</a:t>
            </a:r>
          </a:p>
          <a:p>
            <a:pPr algn="r"/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r"/>
            <a:r>
              <a:rPr lang="en-IN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# Load your uploaded dataset</a:t>
            </a:r>
          </a:p>
          <a:p>
            <a:pPr algn="r"/>
            <a:r>
              <a:rPr lang="en-IN" sz="1800" cap="none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Df</a:t>
            </a:r>
            <a:r>
              <a:rPr lang="en-IN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 = </a:t>
            </a:r>
            <a:r>
              <a:rPr lang="en-IN" sz="1800" cap="none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pd.Read_csv</a:t>
            </a:r>
            <a:r>
              <a:rPr lang="en-IN" sz="1800" cap="none" dirty="0">
                <a:solidFill>
                  <a:srgbClr val="00B050"/>
                </a:solidFill>
                <a:latin typeface="Bookman Old Style" panose="02050604050505020204" pitchFamily="18" charset="0"/>
              </a:rPr>
              <a:t>('/content/drive/</a:t>
            </a:r>
            <a:r>
              <a:rPr lang="en-IN" sz="1800" cap="none" dirty="0" err="1">
                <a:solidFill>
                  <a:srgbClr val="00B050"/>
                </a:solidFill>
                <a:latin typeface="Bookman Old Style" panose="02050604050505020204" pitchFamily="18" charset="0"/>
              </a:rPr>
              <a:t>mydrive</a:t>
            </a:r>
            <a:r>
              <a:rPr lang="en-IN" sz="1800" cap="none" dirty="0">
                <a:solidFill>
                  <a:srgbClr val="00B050"/>
                </a:solidFill>
                <a:latin typeface="Bookman Old Style" panose="02050604050505020204" pitchFamily="18" charset="0"/>
              </a:rPr>
              <a:t>/aviation-</a:t>
            </a:r>
            <a:r>
              <a:rPr lang="en-IN" sz="1800" cap="none" dirty="0" err="1">
                <a:solidFill>
                  <a:srgbClr val="00B050"/>
                </a:solidFill>
                <a:latin typeface="Bookman Old Style" panose="02050604050505020204" pitchFamily="18" charset="0"/>
              </a:rPr>
              <a:t>accident.Csv</a:t>
            </a:r>
            <a:r>
              <a:rPr lang="en-IN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')</a:t>
            </a:r>
          </a:p>
          <a:p>
            <a:pPr algn="r"/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r"/>
            <a:r>
              <a:rPr lang="en-IN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# Show first few rows and info</a:t>
            </a:r>
          </a:p>
          <a:p>
            <a:pPr algn="r"/>
            <a:r>
              <a:rPr lang="en-IN" sz="1800" cap="none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Df.Head</a:t>
            </a:r>
            <a:r>
              <a:rPr lang="en-IN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(), </a:t>
            </a:r>
            <a:r>
              <a:rPr lang="en-IN" sz="1800" cap="none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df.Info</a:t>
            </a:r>
            <a:r>
              <a:rPr lang="en-IN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F31A8-091B-2DFA-53FF-291F83EDC6FF}"/>
              </a:ext>
            </a:extLst>
          </p:cNvPr>
          <p:cNvSpPr txBox="1"/>
          <p:nvPr/>
        </p:nvSpPr>
        <p:spPr>
          <a:xfrm>
            <a:off x="5918618" y="1733439"/>
            <a:ext cx="62733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rbel" panose="020B0503020204020204" pitchFamily="34" charset="0"/>
              </a:rPr>
              <a:t>Required Materials : 1. .csv File of Aviation Accidents dataset</a:t>
            </a:r>
          </a:p>
          <a:p>
            <a:pPr algn="ctr"/>
            <a:r>
              <a:rPr lang="en-US" b="1" dirty="0">
                <a:latin typeface="Corbel" panose="020B0503020204020204" pitchFamily="34" charset="0"/>
              </a:rPr>
              <a:t>    2. Google Collaboratory</a:t>
            </a:r>
            <a:endParaRPr lang="en-IN" b="1" dirty="0">
              <a:latin typeface="Corbel" panose="020B0503020204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058AC76-BE43-4E85-C52F-AE5C689A5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618" y="2622039"/>
            <a:ext cx="5961011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import pandas as pd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 →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Imports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Pandas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a library used for data manipulation and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pd.read_csv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 →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Reads the dataset file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aviation-accident.csv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into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DataFrame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 named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df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df.head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 →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Displays the first 5 rows of the dataset.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Light SemiConde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df.info()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 →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Displays summary info: column names, data types, and missing values.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24FEC3C8-C01B-1E1A-BB2D-ED86F8DC2CB1}"/>
              </a:ext>
            </a:extLst>
          </p:cNvPr>
          <p:cNvSpPr txBox="1">
            <a:spLocks/>
          </p:cNvSpPr>
          <p:nvPr/>
        </p:nvSpPr>
        <p:spPr>
          <a:xfrm flipH="1">
            <a:off x="869429" y="1080215"/>
            <a:ext cx="1117304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CODE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966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C3BC1-3FBC-CDB9-4EFC-80F4E6D68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622F-4361-FCCF-C42A-8F8C05B1F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90EEE07-0C2F-F497-2330-836944B63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496857" y="674097"/>
            <a:ext cx="6531348" cy="6183903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        date             type registration       operator fatalities  \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0  date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unk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.   Antonov An-12B       T-1206  Indonesian AF       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NaN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1  date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unk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.   Antonov An-12B       T-1204  Indonesian AF       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NaN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2  date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unk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.   Antonov An-12B       T-1201  Indonesian AF       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NaN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3  date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unk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.  Antonov An-12BK         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NaN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Soviet AF       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NaN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4  date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unk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.  Antonov An-12BP   CCCP-11815      Soviet AF          0   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       location          country cat     year  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0                 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NaN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Unknown country  U1  unknown  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1                 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NaN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Unknown country  U1  unknown  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2                 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NaN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Unknown country  U1  unknown  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3  Tiksi Airport (IKS)           Russia  A1  unknown  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4  Massawa Airport ...          Eritrea  A1  unknown  ,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None)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3556D04-403B-559D-2F77-320DA2F5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491" y="1898152"/>
            <a:ext cx="596101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df.head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() - </a:t>
            </a:r>
            <a:r>
              <a:rPr lang="en-US" alt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will display the first 5 rows containing the data from the .CSV file.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7337C75A-03FA-2EAA-89AB-0038084D865F}"/>
              </a:ext>
            </a:extLst>
          </p:cNvPr>
          <p:cNvSpPr txBox="1">
            <a:spLocks/>
          </p:cNvSpPr>
          <p:nvPr/>
        </p:nvSpPr>
        <p:spPr>
          <a:xfrm flipH="1">
            <a:off x="464693" y="299804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DISPLAY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7D49A7D-18D9-2380-9B88-0CB271C1E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490" y="3103442"/>
            <a:ext cx="596101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 df.</a:t>
            </a:r>
            <a:r>
              <a:rPr lang="en-US" alt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info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() - </a:t>
            </a:r>
            <a:r>
              <a:rPr lang="en-US" alt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will display summary information like date, registration, location, country, year.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7511545-1470-C79A-4333-384A18223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830" y="4980721"/>
            <a:ext cx="596101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This helps to understand the dataset before analysis.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4081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7E6854-3818-DDCC-CFDE-8BDEC3F1F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FD9E-0E21-CA5F-60BD-19C37365E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E87EEC9-DD1F-7FC1-9575-EBA38913E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448792" y="160913"/>
            <a:ext cx="6184670" cy="6716054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# Core data analysis libraries</a:t>
            </a:r>
          </a:p>
          <a:p>
            <a:pPr algn="r"/>
            <a:r>
              <a:rPr lang="en-IN" sz="1400" cap="none" dirty="0">
                <a:solidFill>
                  <a:schemeClr val="accent1"/>
                </a:solidFill>
                <a:latin typeface="Bahnschrift SemiLight SemiConde" panose="020B0502040204020203" pitchFamily="34" charset="0"/>
              </a:rPr>
              <a:t>import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pandas </a:t>
            </a:r>
            <a:r>
              <a:rPr lang="en-IN" sz="1400" cap="none" dirty="0">
                <a:solidFill>
                  <a:schemeClr val="accent1"/>
                </a:solidFill>
                <a:latin typeface="Bahnschrift SemiLight SemiConde" panose="020B0502040204020203" pitchFamily="34" charset="0"/>
              </a:rPr>
              <a:t>as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pd</a:t>
            </a:r>
          </a:p>
          <a:p>
            <a:pPr algn="r"/>
            <a:r>
              <a:rPr lang="en-IN" sz="1400" cap="none" dirty="0">
                <a:solidFill>
                  <a:schemeClr val="accent1"/>
                </a:solidFill>
                <a:latin typeface="Bahnschrift SemiLight SemiConde" panose="020B0502040204020203" pitchFamily="34" charset="0"/>
              </a:rPr>
              <a:t>import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numpy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IN" sz="1400" cap="none" dirty="0">
                <a:solidFill>
                  <a:schemeClr val="accent1"/>
                </a:solidFill>
                <a:latin typeface="Bahnschrift SemiLight SemiConde" panose="020B0502040204020203" pitchFamily="34" charset="0"/>
              </a:rPr>
              <a:t>as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np</a:t>
            </a:r>
          </a:p>
          <a:p>
            <a:pPr algn="r"/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# Visualization libraries</a:t>
            </a:r>
          </a:p>
          <a:p>
            <a:pPr algn="r"/>
            <a:r>
              <a:rPr lang="en-IN" sz="1400" cap="none" dirty="0">
                <a:solidFill>
                  <a:schemeClr val="accent1"/>
                </a:solidFill>
                <a:latin typeface="Bahnschrift SemiLight SemiConde" panose="020B0502040204020203" pitchFamily="34" charset="0"/>
              </a:rPr>
              <a:t>import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matplotlib.pyplot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IN" sz="1400" cap="none" dirty="0">
                <a:solidFill>
                  <a:schemeClr val="accent1"/>
                </a:solidFill>
                <a:latin typeface="Bahnschrift SemiLight SemiConde" panose="020B0502040204020203" pitchFamily="34" charset="0"/>
              </a:rPr>
              <a:t>as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</a:t>
            </a:r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algn="r"/>
            <a:r>
              <a:rPr lang="en-IN" sz="1400" cap="none" dirty="0">
                <a:solidFill>
                  <a:schemeClr val="accent1"/>
                </a:solidFill>
                <a:latin typeface="Bahnschrift SemiLight SemiConde" panose="020B0502040204020203" pitchFamily="34" charset="0"/>
              </a:rPr>
              <a:t>import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seaborn </a:t>
            </a:r>
            <a:r>
              <a:rPr lang="en-IN" sz="1400" cap="none" dirty="0">
                <a:solidFill>
                  <a:schemeClr val="accent1"/>
                </a:solidFill>
                <a:latin typeface="Bahnschrift SemiLight SemiConde" panose="020B0502040204020203" pitchFamily="34" charset="0"/>
              </a:rPr>
              <a:t>as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sns</a:t>
            </a:r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algn="r"/>
            <a:r>
              <a:rPr lang="en-IN" sz="1400" cap="none" dirty="0">
                <a:solidFill>
                  <a:schemeClr val="accent1"/>
                </a:solidFill>
                <a:latin typeface="Bahnschrift SemiLight SemiConde" panose="020B0502040204020203" pitchFamily="34" charset="0"/>
              </a:rPr>
              <a:t>import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plotly.express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IN" sz="1400" cap="none" dirty="0">
                <a:solidFill>
                  <a:schemeClr val="accent1"/>
                </a:solidFill>
                <a:latin typeface="Bahnschrift SemiLight SemiConde" panose="020B0502040204020203" pitchFamily="34" charset="0"/>
              </a:rPr>
              <a:t>as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px</a:t>
            </a:r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algn="r"/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# Statistical tools</a:t>
            </a:r>
          </a:p>
          <a:p>
            <a:pPr algn="r"/>
            <a:r>
              <a:rPr lang="en-IN" sz="1400" cap="none" dirty="0">
                <a:solidFill>
                  <a:schemeClr val="accent1"/>
                </a:solidFill>
                <a:latin typeface="Bahnschrift SemiLight SemiConde" panose="020B0502040204020203" pitchFamily="34" charset="0"/>
              </a:rPr>
              <a:t>from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scipy.stats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IN" sz="1400" cap="none" dirty="0">
                <a:solidFill>
                  <a:schemeClr val="accent1"/>
                </a:solidFill>
                <a:latin typeface="Bahnschrift SemiLight SemiConde" panose="020B0502040204020203" pitchFamily="34" charset="0"/>
              </a:rPr>
              <a:t>import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linregress</a:t>
            </a:r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algn="r"/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# Display settings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pd.set_option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'</a:t>
            </a:r>
            <a:r>
              <a:rPr lang="en-IN" sz="1400" cap="none" dirty="0" err="1">
                <a:solidFill>
                  <a:srgbClr val="00B050"/>
                </a:solidFill>
                <a:latin typeface="Bahnschrift SemiLight SemiConde" panose="020B0502040204020203" pitchFamily="34" charset="0"/>
              </a:rPr>
              <a:t>display.max_columns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', None)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sns.set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(style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="</a:t>
            </a:r>
            <a:r>
              <a:rPr lang="en-IN" sz="1400" cap="none" dirty="0" err="1">
                <a:solidFill>
                  <a:srgbClr val="00B050"/>
                </a:solidFill>
                <a:latin typeface="Bahnschrift SemiLight SemiConde" panose="020B0502040204020203" pitchFamily="34" charset="0"/>
              </a:rPr>
              <a:t>whitegrid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")</a:t>
            </a:r>
          </a:p>
          <a:p>
            <a:pPr algn="r"/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A1F6C48E-184B-1F02-ED33-22ABF08E1D87}"/>
              </a:ext>
            </a:extLst>
          </p:cNvPr>
          <p:cNvSpPr txBox="1">
            <a:spLocks/>
          </p:cNvSpPr>
          <p:nvPr/>
        </p:nvSpPr>
        <p:spPr>
          <a:xfrm flipH="1">
            <a:off x="537248" y="299804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CODE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2A81BB7-848E-E950-D6FB-E96034BCF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878" y="1164455"/>
            <a:ext cx="625962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We will Import libraries for-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pandas</a:t>
            </a:r>
            <a:r>
              <a:rPr lang="en-US" alt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/ </a:t>
            </a:r>
            <a:r>
              <a:rPr lang="en-US" altLang="en-US" sz="2000" b="1" dirty="0" err="1">
                <a:highlight>
                  <a:srgbClr val="C0C0C0"/>
                </a:highlight>
                <a:latin typeface="Bahnschrift SemiLight SemiConde" panose="020B0502040204020203" pitchFamily="34" charset="0"/>
              </a:rPr>
              <a:t>numpy</a:t>
            </a:r>
            <a:r>
              <a:rPr lang="en-US" alt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→ Data handling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matplotlib</a:t>
            </a:r>
            <a:r>
              <a:rPr lang="en-US" alt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, </a:t>
            </a:r>
            <a:r>
              <a:rPr lang="en-US" altLang="en-US" sz="2000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seaborn</a:t>
            </a:r>
            <a:r>
              <a:rPr lang="en-US" alt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, </a:t>
            </a:r>
            <a:r>
              <a:rPr lang="en-US" altLang="en-US" sz="2000" b="1" dirty="0" err="1">
                <a:highlight>
                  <a:srgbClr val="C0C0C0"/>
                </a:highlight>
                <a:latin typeface="Bahnschrift SemiLight SemiConde" panose="020B0502040204020203" pitchFamily="34" charset="0"/>
              </a:rPr>
              <a:t>plotly.express</a:t>
            </a:r>
            <a:r>
              <a:rPr lang="en-US" alt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→ Graphs and charts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 err="1">
                <a:highlight>
                  <a:srgbClr val="C0C0C0"/>
                </a:highlight>
                <a:latin typeface="Bahnschrift SemiLight SemiConde" panose="020B0502040204020203" pitchFamily="34" charset="0"/>
              </a:rPr>
              <a:t>scipy.stats.linregress</a:t>
            </a:r>
            <a:r>
              <a:rPr lang="en-US" alt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→ Linear regression (trend analysis)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highlight>
                  <a:srgbClr val="C0C0C0"/>
                </a:highlight>
                <a:latin typeface="Bahnschrift SemiLight SemiConde" panose="020B0502040204020203" pitchFamily="34" charset="0"/>
              </a:rPr>
              <a:t>pd.set_option</a:t>
            </a:r>
            <a:r>
              <a:rPr lang="en-US" altLang="en-US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('</a:t>
            </a:r>
            <a:r>
              <a:rPr lang="en-US" altLang="en-US" b="1" dirty="0" err="1">
                <a:highlight>
                  <a:srgbClr val="C0C0C0"/>
                </a:highlight>
                <a:latin typeface="Bahnschrift SemiLight SemiConde" panose="020B0502040204020203" pitchFamily="34" charset="0"/>
              </a:rPr>
              <a:t>display.max_columns</a:t>
            </a:r>
            <a:r>
              <a:rPr lang="en-US" altLang="en-US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', None)</a:t>
            </a:r>
            <a:r>
              <a:rPr lang="en-US" altLang="en-US" sz="2400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</a:t>
            </a:r>
            <a:r>
              <a:rPr lang="en-US" alt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→</a:t>
            </a:r>
            <a:r>
              <a:rPr lang="en-US" alt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Ensures all columns are visible in output</a:t>
            </a:r>
            <a:r>
              <a:rPr lang="en-US" alt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.</a:t>
            </a:r>
            <a:endParaRPr lang="en-US" altLang="en-US" sz="40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highlight>
                  <a:srgbClr val="C0C0C0"/>
                </a:highlight>
                <a:latin typeface="Bahnschrift SemiLight SemiConde" panose="020B0502040204020203" pitchFamily="34" charset="0"/>
              </a:rPr>
              <a:t>sns.set</a:t>
            </a:r>
            <a:r>
              <a:rPr lang="en-US" altLang="en-US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(style="</a:t>
            </a:r>
            <a:r>
              <a:rPr lang="en-US" altLang="en-US" b="1" dirty="0" err="1">
                <a:highlight>
                  <a:srgbClr val="C0C0C0"/>
                </a:highlight>
                <a:latin typeface="Bahnschrift SemiLight SemiConde" panose="020B0502040204020203" pitchFamily="34" charset="0"/>
              </a:rPr>
              <a:t>whitegrid</a:t>
            </a:r>
            <a:r>
              <a:rPr lang="en-US" altLang="en-US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")</a:t>
            </a:r>
            <a:r>
              <a:rPr lang="en-US" altLang="en-US" sz="2400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→ </a:t>
            </a:r>
            <a:r>
              <a:rPr lang="en-US" alt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Makes Seaborn plots look cleaner with a white grid.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will set up all the </a:t>
            </a:r>
            <a:r>
              <a:rPr lang="en-US" sz="2400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tools</a:t>
            </a:r>
            <a:r>
              <a:rPr 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needed for visual and statistical analysis</a:t>
            </a:r>
            <a:r>
              <a:rPr lang="en-US" sz="2400" dirty="0">
                <a:highlight>
                  <a:srgbClr val="C0C0C0"/>
                </a:highlight>
              </a:rPr>
              <a:t>.</a:t>
            </a:r>
            <a:endParaRPr lang="en-US" altLang="en-US" sz="24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9363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CC004-9334-6F4F-CD68-CA4B2E7E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7F998-DA8F-CE85-3D8B-E13096E9A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E1EB6D8-F3F8-72FF-81B5-C7CE4F524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598893" y="1435074"/>
            <a:ext cx="7009687" cy="4456057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en-IN" sz="2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# Load the uploaded CSV file</a:t>
            </a:r>
          </a:p>
          <a:p>
            <a:pPr algn="r"/>
            <a:r>
              <a:rPr lang="en-IN" sz="2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2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= </a:t>
            </a:r>
            <a:r>
              <a:rPr lang="en-IN" sz="2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pd.read_csv</a:t>
            </a:r>
            <a:r>
              <a:rPr lang="en-IN" sz="2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('/content/drive/</a:t>
            </a:r>
            <a:r>
              <a:rPr lang="en-IN" sz="2400" cap="none" dirty="0" err="1">
                <a:solidFill>
                  <a:srgbClr val="00B050"/>
                </a:solidFill>
                <a:latin typeface="Bahnschrift SemiLight SemiConde" panose="020B0502040204020203" pitchFamily="34" charset="0"/>
              </a:rPr>
              <a:t>MyDrive</a:t>
            </a:r>
            <a:r>
              <a:rPr lang="en-IN" sz="2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/aviation-accident.csv')</a:t>
            </a:r>
          </a:p>
          <a:p>
            <a:pPr algn="r"/>
            <a:endParaRPr lang="en-IN" sz="2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algn="r"/>
            <a:r>
              <a:rPr lang="en-IN" sz="2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# Preview first 5 rows</a:t>
            </a:r>
          </a:p>
          <a:p>
            <a:pPr algn="r"/>
            <a:r>
              <a:rPr lang="en-IN" sz="2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df.head</a:t>
            </a:r>
            <a:r>
              <a:rPr lang="en-IN" sz="2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()</a:t>
            </a:r>
          </a:p>
          <a:p>
            <a:pPr algn="r"/>
            <a:endParaRPr lang="en-IN" sz="2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940C3C4D-A30D-3681-EBC4-F1CB05259012}"/>
              </a:ext>
            </a:extLst>
          </p:cNvPr>
          <p:cNvSpPr txBox="1">
            <a:spLocks/>
          </p:cNvSpPr>
          <p:nvPr/>
        </p:nvSpPr>
        <p:spPr>
          <a:xfrm flipH="1">
            <a:off x="537248" y="299804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CODE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B1F866B-8768-74A5-F746-A34806746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698785"/>
            <a:ext cx="625962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We will again import the file and preview first 5 rows.</a:t>
            </a:r>
            <a:endParaRPr lang="en-US" altLang="en-US" sz="24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6024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94C4D-DCFF-9899-0DD3-56D261FC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87A0-9B02-7A76-2285-0472B3B99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C873564-84A9-EA56-C12D-0E6AF7290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300515" y="690009"/>
            <a:ext cx="4931051" cy="2228029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# Load the uploaded CSV file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=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pd.read_csv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('/content/drive/</a:t>
            </a:r>
            <a:r>
              <a:rPr lang="en-IN" sz="1400" cap="none" dirty="0" err="1">
                <a:solidFill>
                  <a:srgbClr val="00B050"/>
                </a:solidFill>
                <a:latin typeface="Bahnschrift SemiLight SemiConde" panose="020B0502040204020203" pitchFamily="34" charset="0"/>
              </a:rPr>
              <a:t>MyDrive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/aviation-accident.csv')</a:t>
            </a:r>
          </a:p>
          <a:p>
            <a:pPr algn="r"/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# Preview first 5 rows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df.head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()</a:t>
            </a:r>
          </a:p>
          <a:p>
            <a:pPr algn="r"/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0DA9DE08-4B81-AECA-6B8D-EEB48EC53BC7}"/>
              </a:ext>
            </a:extLst>
          </p:cNvPr>
          <p:cNvSpPr txBox="1">
            <a:spLocks/>
          </p:cNvSpPr>
          <p:nvPr/>
        </p:nvSpPr>
        <p:spPr>
          <a:xfrm flipH="1">
            <a:off x="537248" y="299804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DISPLAY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4539669-6576-4DBC-1EA1-B1B58E7C0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377" y="2028560"/>
            <a:ext cx="62596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will display the first 5 rows.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BA7A40-CB7C-E73E-B522-AAC356D9B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467339"/>
              </p:ext>
            </p:extLst>
          </p:nvPr>
        </p:nvGraphicFramePr>
        <p:xfrm>
          <a:off x="1204310" y="3308243"/>
          <a:ext cx="10627546" cy="3152511"/>
        </p:xfrm>
        <a:graphic>
          <a:graphicData uri="http://schemas.openxmlformats.org/drawingml/2006/table">
            <a:tbl>
              <a:tblPr/>
              <a:tblGrid>
                <a:gridCol w="542282">
                  <a:extLst>
                    <a:ext uri="{9D8B030D-6E8A-4147-A177-3AD203B41FA5}">
                      <a16:colId xmlns:a16="http://schemas.microsoft.com/office/drawing/2014/main" val="393321155"/>
                    </a:ext>
                  </a:extLst>
                </a:gridCol>
                <a:gridCol w="895850">
                  <a:extLst>
                    <a:ext uri="{9D8B030D-6E8A-4147-A177-3AD203B41FA5}">
                      <a16:colId xmlns:a16="http://schemas.microsoft.com/office/drawing/2014/main" val="1518451968"/>
                    </a:ext>
                  </a:extLst>
                </a:gridCol>
                <a:gridCol w="1501449">
                  <a:extLst>
                    <a:ext uri="{9D8B030D-6E8A-4147-A177-3AD203B41FA5}">
                      <a16:colId xmlns:a16="http://schemas.microsoft.com/office/drawing/2014/main" val="3464254889"/>
                    </a:ext>
                  </a:extLst>
                </a:gridCol>
                <a:gridCol w="1169027">
                  <a:extLst>
                    <a:ext uri="{9D8B030D-6E8A-4147-A177-3AD203B41FA5}">
                      <a16:colId xmlns:a16="http://schemas.microsoft.com/office/drawing/2014/main" val="1058263502"/>
                    </a:ext>
                  </a:extLst>
                </a:gridCol>
                <a:gridCol w="1079124">
                  <a:extLst>
                    <a:ext uri="{9D8B030D-6E8A-4147-A177-3AD203B41FA5}">
                      <a16:colId xmlns:a16="http://schemas.microsoft.com/office/drawing/2014/main" val="3902497100"/>
                    </a:ext>
                  </a:extLst>
                </a:gridCol>
                <a:gridCol w="841748">
                  <a:extLst>
                    <a:ext uri="{9D8B030D-6E8A-4147-A177-3AD203B41FA5}">
                      <a16:colId xmlns:a16="http://schemas.microsoft.com/office/drawing/2014/main" val="2465393448"/>
                    </a:ext>
                  </a:extLst>
                </a:gridCol>
                <a:gridCol w="1649976">
                  <a:extLst>
                    <a:ext uri="{9D8B030D-6E8A-4147-A177-3AD203B41FA5}">
                      <a16:colId xmlns:a16="http://schemas.microsoft.com/office/drawing/2014/main" val="3395432671"/>
                    </a:ext>
                  </a:extLst>
                </a:gridCol>
                <a:gridCol w="1534279">
                  <a:extLst>
                    <a:ext uri="{9D8B030D-6E8A-4147-A177-3AD203B41FA5}">
                      <a16:colId xmlns:a16="http://schemas.microsoft.com/office/drawing/2014/main" val="3682885346"/>
                    </a:ext>
                  </a:extLst>
                </a:gridCol>
                <a:gridCol w="526724">
                  <a:extLst>
                    <a:ext uri="{9D8B030D-6E8A-4147-A177-3AD203B41FA5}">
                      <a16:colId xmlns:a16="http://schemas.microsoft.com/office/drawing/2014/main" val="3784773746"/>
                    </a:ext>
                  </a:extLst>
                </a:gridCol>
                <a:gridCol w="887087">
                  <a:extLst>
                    <a:ext uri="{9D8B030D-6E8A-4147-A177-3AD203B41FA5}">
                      <a16:colId xmlns:a16="http://schemas.microsoft.com/office/drawing/2014/main" val="3793126513"/>
                    </a:ext>
                  </a:extLst>
                </a:gridCol>
              </a:tblGrid>
              <a:tr h="42993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date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type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registration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operator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fatalities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location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country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cat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year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1338" marR="71338" marT="35669" marB="356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677356"/>
                  </a:ext>
                </a:extLst>
              </a:tr>
              <a:tr h="42993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date unk.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Antonov An-12B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T-1206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Indonesian AF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NaN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NaN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Unknown country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U1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unknown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856836"/>
                  </a:ext>
                </a:extLst>
              </a:tr>
              <a:tr h="42993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date unk.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Antonov An-12B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T-1204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Indonesian AF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NaN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 err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NaN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Unknown country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U1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unknown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724312"/>
                  </a:ext>
                </a:extLst>
              </a:tr>
              <a:tr h="42993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date unk.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Antonov An-12B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T-1201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Indonesian AF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NaN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NaN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Unknown country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U1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unknown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039328"/>
                  </a:ext>
                </a:extLst>
              </a:tr>
              <a:tr h="61419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date unk.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Antonov An-12BK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NaN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Soviet AF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NaN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Tiksi Airport (IKS)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Russia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A1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unknown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833103"/>
                  </a:ext>
                </a:extLst>
              </a:tr>
              <a:tr h="61419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date unk.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Antonov An-12BP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CCCP-11815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Soviet AF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Massawa Airport ...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Eritrea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A1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unknown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881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1948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CFCB6-71D5-1EBB-82F0-3CF7E10D5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6499-3033-4B2E-BCDD-95A2A8A55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E684BE2-5CE5-3ED6-F0CD-099DCC182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225564" y="1210311"/>
            <a:ext cx="4631250" cy="2098161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en-IN" sz="2000" cap="none" dirty="0">
                <a:solidFill>
                  <a:srgbClr val="FFFF00"/>
                </a:solidFill>
                <a:latin typeface="Bahnschrift SemiLight SemiConde" panose="020B0502040204020203" pitchFamily="34" charset="0"/>
              </a:rPr>
              <a:t>print</a:t>
            </a:r>
            <a:r>
              <a:rPr lang="en-IN" sz="20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("</a:t>
            </a:r>
            <a:r>
              <a:rPr lang="en-IN" sz="20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Dataset shape</a:t>
            </a:r>
            <a:r>
              <a:rPr lang="en-IN" sz="20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:", </a:t>
            </a:r>
            <a:r>
              <a:rPr lang="en-IN" sz="20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df.shape</a:t>
            </a:r>
            <a:r>
              <a:rPr lang="en-IN" sz="20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)</a:t>
            </a:r>
          </a:p>
          <a:p>
            <a:pPr algn="r"/>
            <a:r>
              <a:rPr lang="en-IN" sz="20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df.info()</a:t>
            </a:r>
          </a:p>
          <a:p>
            <a:pPr algn="r"/>
            <a:r>
              <a:rPr lang="en-IN" sz="20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df.describe</a:t>
            </a:r>
            <a:r>
              <a:rPr lang="en-IN" sz="20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(include=</a:t>
            </a:r>
            <a:r>
              <a:rPr lang="en-IN" sz="20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'all'</a:t>
            </a:r>
            <a:r>
              <a:rPr lang="en-IN" sz="20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)</a:t>
            </a:r>
          </a:p>
          <a:p>
            <a:pPr algn="r"/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A2A723B1-6290-AAE8-EBDA-FAD35D01D911}"/>
              </a:ext>
            </a:extLst>
          </p:cNvPr>
          <p:cNvSpPr txBox="1">
            <a:spLocks/>
          </p:cNvSpPr>
          <p:nvPr/>
        </p:nvSpPr>
        <p:spPr>
          <a:xfrm flipH="1">
            <a:off x="672160" y="563515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CODE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C496A5A-ECA4-6C9F-3047-3128D3C9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479" y="3617861"/>
            <a:ext cx="1223697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df.shape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 →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Returns total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rows and columns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 (e.g., 10000×12).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df.info() →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Lists column names, data types, and missing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df.describe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(include='all') →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Gives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statistical summary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 (mean, median, unique counts, etc.) for all columns.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EF5F1B-357A-B57E-C65E-8FE41864D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537" y="4885582"/>
            <a:ext cx="8268854" cy="1524213"/>
          </a:xfrm>
          <a:prstGeom prst="rect">
            <a:avLst/>
          </a:prstGeom>
        </p:spPr>
      </p:pic>
      <p:sp>
        <p:nvSpPr>
          <p:cNvPr id="10" name="Subtitle 5">
            <a:extLst>
              <a:ext uri="{FF2B5EF4-FFF2-40B4-BE49-F238E27FC236}">
                <a16:creationId xmlns:a16="http://schemas.microsoft.com/office/drawing/2014/main" id="{6480E521-423C-25ED-4A9A-D4C782F39F14}"/>
              </a:ext>
            </a:extLst>
          </p:cNvPr>
          <p:cNvSpPr txBox="1">
            <a:spLocks/>
          </p:cNvSpPr>
          <p:nvPr/>
        </p:nvSpPr>
        <p:spPr>
          <a:xfrm flipH="1">
            <a:off x="822062" y="5446669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DISPLAY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58120B-973A-E65E-FB89-9618F13CCEC1}"/>
              </a:ext>
            </a:extLst>
          </p:cNvPr>
          <p:cNvSpPr txBox="1"/>
          <p:nvPr/>
        </p:nvSpPr>
        <p:spPr>
          <a:xfrm>
            <a:off x="5085412" y="2025872"/>
            <a:ext cx="66368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will make us understand data structure, completeness, and column statistics before cleaning.</a:t>
            </a:r>
            <a:endParaRPr lang="en-IN" sz="20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473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CA6308-9D54-9DB7-4464-5308E3106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1115-EEFD-8C37-3151-3459639FF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2A3DAAB-F566-8094-8F00-0AE170DB5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70581" y="1080215"/>
            <a:ext cx="5635590" cy="3196797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df.replace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('unknown',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np.nan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inplace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</a:t>
            </a:r>
            <a:r>
              <a:rPr lang="en-IN" sz="1400" cap="none" dirty="0">
                <a:solidFill>
                  <a:schemeClr val="accent1"/>
                </a:solidFill>
                <a:latin typeface="Bahnschrift SemiLight SemiConde" panose="020B0502040204020203" pitchFamily="34" charset="0"/>
              </a:rPr>
              <a:t>True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['fatalities'] =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pd.to_numeric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['fatalities'], errors='coerce')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'yea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r'] =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pd.to_numeric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['year'], errors='coerce')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=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df.dropna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(subset=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['year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', 'f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atalities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'])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year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'] =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['year'].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astype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>
                <a:solidFill>
                  <a:srgbClr val="FFFF00"/>
                </a:solidFill>
                <a:latin typeface="Bahnschrift SemiLight SemiConde" panose="020B0502040204020203" pitchFamily="34" charset="0"/>
              </a:rPr>
              <a:t>int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)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df.info()</a:t>
            </a:r>
          </a:p>
          <a:p>
            <a:pPr algn="r"/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3ECEE304-822B-2E91-8042-6562D962D239}"/>
              </a:ext>
            </a:extLst>
          </p:cNvPr>
          <p:cNvSpPr txBox="1">
            <a:spLocks/>
          </p:cNvSpPr>
          <p:nvPr/>
        </p:nvSpPr>
        <p:spPr>
          <a:xfrm flipH="1">
            <a:off x="672160" y="563515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CODE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Subtitle 5">
            <a:extLst>
              <a:ext uri="{FF2B5EF4-FFF2-40B4-BE49-F238E27FC236}">
                <a16:creationId xmlns:a16="http://schemas.microsoft.com/office/drawing/2014/main" id="{C2B81516-5F0B-E8ED-87F6-AEA6EB2F6B49}"/>
              </a:ext>
            </a:extLst>
          </p:cNvPr>
          <p:cNvSpPr txBox="1">
            <a:spLocks/>
          </p:cNvSpPr>
          <p:nvPr/>
        </p:nvSpPr>
        <p:spPr>
          <a:xfrm flipH="1">
            <a:off x="8336038" y="1819208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DISPLAY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B89BF-5128-B9E9-0BB8-6FC76323F2CC}"/>
              </a:ext>
            </a:extLst>
          </p:cNvPr>
          <p:cNvSpPr txBox="1"/>
          <p:nvPr/>
        </p:nvSpPr>
        <p:spPr>
          <a:xfrm>
            <a:off x="9647420" y="1101440"/>
            <a:ext cx="25445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DATA CLEANING</a:t>
            </a:r>
            <a:endParaRPr lang="en-IN" sz="24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A7B5B1D-4D28-E267-D11A-9B7F4214E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18" y="4762122"/>
            <a:ext cx="1180225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1. It will Replace 'unknown' values with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NaN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(so Pandas can detect them as missing).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2. It will Convert text columns (fatalities, year) into numeric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3. It will Drop rows with missing year or fatalities (incomplete records).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581D8D-6101-18A0-7368-7ED75C292F77}"/>
              </a:ext>
            </a:extLst>
          </p:cNvPr>
          <p:cNvSpPr txBox="1"/>
          <p:nvPr/>
        </p:nvSpPr>
        <p:spPr>
          <a:xfrm>
            <a:off x="7513865" y="2560448"/>
            <a:ext cx="3905363" cy="3693319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/>
              <a:t>Data columns (total 9 columns):</a:t>
            </a:r>
          </a:p>
          <a:p>
            <a:r>
              <a:rPr lang="en-IN" dirty="0"/>
              <a:t> #   Column        Non-Null Count  </a:t>
            </a:r>
            <a:r>
              <a:rPr lang="en-IN" dirty="0" err="1"/>
              <a:t>Dtype</a:t>
            </a:r>
            <a:r>
              <a:rPr lang="en-IN" dirty="0"/>
              <a:t>  </a:t>
            </a:r>
          </a:p>
          <a:p>
            <a:r>
              <a:rPr lang="en-IN" dirty="0"/>
              <a:t>---  ------        --------------  -----  </a:t>
            </a:r>
          </a:p>
          <a:p>
            <a:r>
              <a:rPr lang="en-IN" dirty="0"/>
              <a:t> 0   date          19558 non-null  object </a:t>
            </a:r>
          </a:p>
          <a:p>
            <a:r>
              <a:rPr lang="en-IN" dirty="0"/>
              <a:t> 1   type          19525 non-null  object </a:t>
            </a:r>
          </a:p>
          <a:p>
            <a:r>
              <a:rPr lang="en-IN" dirty="0"/>
              <a:t> 2   registration  18289 non-null  object </a:t>
            </a:r>
          </a:p>
          <a:p>
            <a:r>
              <a:rPr lang="en-IN" dirty="0"/>
              <a:t> 3   operator      19555 non-null  object </a:t>
            </a:r>
          </a:p>
          <a:p>
            <a:r>
              <a:rPr lang="en-IN" dirty="0"/>
              <a:t> 4   fatalities    19558 non-null  float64</a:t>
            </a:r>
          </a:p>
          <a:p>
            <a:r>
              <a:rPr lang="en-IN" dirty="0"/>
              <a:t> 5   location      19361 non-null  object </a:t>
            </a:r>
          </a:p>
          <a:p>
            <a:r>
              <a:rPr lang="en-IN" dirty="0"/>
              <a:t> 6   country       19558 non-null  object </a:t>
            </a:r>
          </a:p>
          <a:p>
            <a:r>
              <a:rPr lang="en-IN" dirty="0"/>
              <a:t> 7   cat           19558 non-null  object </a:t>
            </a:r>
          </a:p>
          <a:p>
            <a:r>
              <a:rPr lang="en-IN" dirty="0"/>
              <a:t> 8   year          19558 non-null  int64  </a:t>
            </a:r>
          </a:p>
          <a:p>
            <a:r>
              <a:rPr lang="en-IN" dirty="0" err="1"/>
              <a:t>dtypes</a:t>
            </a:r>
            <a:r>
              <a:rPr lang="en-IN" dirty="0"/>
              <a:t>: float64(1), int64(1), object(7)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5DB89D-0929-1C80-D473-2FC9781A4F6B}"/>
              </a:ext>
            </a:extLst>
          </p:cNvPr>
          <p:cNvSpPr txBox="1"/>
          <p:nvPr/>
        </p:nvSpPr>
        <p:spPr>
          <a:xfrm>
            <a:off x="4514904" y="4134093"/>
            <a:ext cx="36318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4. It will Convert year to integer 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5. It will Display cleaned dataset info.</a:t>
            </a:r>
          </a:p>
        </p:txBody>
      </p:sp>
    </p:spTree>
    <p:extLst>
      <p:ext uri="{BB962C8B-B14F-4D97-AF65-F5344CB8AC3E}">
        <p14:creationId xmlns:p14="http://schemas.microsoft.com/office/powerpoint/2010/main" val="933752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C2E46-C24D-AEC2-02DD-32056E37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1A3C-4F8E-104D-1921-AAB3DA575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25F47CA-6181-F07A-DCB4-88311B1CC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937183" y="1476168"/>
            <a:ext cx="6462845" cy="4390778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plt.figure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figsize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=(</a:t>
            </a:r>
            <a:r>
              <a:rPr lang="en-IN" sz="1400" cap="none" dirty="0">
                <a:solidFill>
                  <a:srgbClr val="C00000"/>
                </a:solidFill>
                <a:latin typeface="Bahnschrift SemiLight SemiConde" panose="020B0502040204020203" pitchFamily="34" charset="0"/>
              </a:rPr>
              <a:t>12,6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))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plt.plot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accidents_per_year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color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='#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0077b6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', linewidth=</a:t>
            </a:r>
            <a:r>
              <a:rPr lang="en-IN" sz="1400" cap="none" dirty="0">
                <a:solidFill>
                  <a:srgbClr val="C00000"/>
                </a:solidFill>
                <a:latin typeface="Bahnschrift SemiLight SemiConde" panose="020B0502040204020203" pitchFamily="34" charset="0"/>
              </a:rPr>
              <a:t>2.5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plt.fill_between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accidents_per_year.index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accidents_per_year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color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='#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90e0ef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', alpha=</a:t>
            </a:r>
            <a:r>
              <a:rPr lang="en-IN" sz="1400" cap="none" dirty="0">
                <a:solidFill>
                  <a:srgbClr val="FFC000"/>
                </a:solidFill>
                <a:latin typeface="Bahnschrift SemiLight SemiConde" panose="020B0502040204020203" pitchFamily="34" charset="0"/>
              </a:rPr>
              <a:t>0.3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plt.title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'Number of Aviation Accidents per Year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',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fontsize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=16)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plt.xlabel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'Year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')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plt.ylabel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>
                <a:solidFill>
                  <a:srgbClr val="00B050"/>
                </a:solidFill>
                <a:latin typeface="Bahnschrift SemiLight SemiConde" panose="020B0502040204020203" pitchFamily="34" charset="0"/>
              </a:rPr>
              <a:t>'Accidents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')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plt.grid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(alpha=</a:t>
            </a:r>
            <a:r>
              <a:rPr lang="en-IN" sz="1400" cap="none" dirty="0">
                <a:solidFill>
                  <a:srgbClr val="FFC000"/>
                </a:solidFill>
                <a:latin typeface="Bahnschrift SemiLight SemiConde" panose="020B0502040204020203" pitchFamily="34" charset="0"/>
              </a:rPr>
              <a:t>0.3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plt.show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()</a:t>
            </a:r>
          </a:p>
          <a:p>
            <a:pPr algn="r"/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64E681EC-39CF-A7BF-8D88-ED9F3D838C9D}"/>
              </a:ext>
            </a:extLst>
          </p:cNvPr>
          <p:cNvSpPr txBox="1">
            <a:spLocks/>
          </p:cNvSpPr>
          <p:nvPr/>
        </p:nvSpPr>
        <p:spPr>
          <a:xfrm flipH="1">
            <a:off x="372357" y="843090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CODE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4D0BD-FCEE-FBC1-07DC-B05F124EF619}"/>
              </a:ext>
            </a:extLst>
          </p:cNvPr>
          <p:cNvSpPr txBox="1"/>
          <p:nvPr/>
        </p:nvSpPr>
        <p:spPr>
          <a:xfrm>
            <a:off x="9084039" y="1101440"/>
            <a:ext cx="3107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ACCIDENT PER YEAR</a:t>
            </a:r>
            <a:endParaRPr lang="en-IN" sz="24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D136855-33CA-C470-19F6-01CC05269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242" y="2170781"/>
            <a:ext cx="582118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Creates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line chart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 showing total accidents by year.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Uses a filled blue color tone for smooth visuals.</a:t>
            </a:r>
            <a:endParaRPr lang="en-US" altLang="en-US" sz="20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also Adds labels and gridlines.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D198AD-4822-FDB5-496C-358AF7BD0C5A}"/>
              </a:ext>
            </a:extLst>
          </p:cNvPr>
          <p:cNvSpPr txBox="1"/>
          <p:nvPr/>
        </p:nvSpPr>
        <p:spPr>
          <a:xfrm>
            <a:off x="5350240" y="3671557"/>
            <a:ext cx="657318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visualize </a:t>
            </a:r>
            <a:r>
              <a:rPr lang="en-US" sz="2000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trends over time</a:t>
            </a:r>
            <a:r>
              <a:rPr 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— how accident frequency changes year by year.</a:t>
            </a:r>
            <a:endParaRPr lang="en-IN" sz="20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4647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9F163-2B0C-C93F-B74D-A240F6F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DAEB-AD35-84C3-3C4E-E09D8D7E9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10" name="Subtitle 5">
            <a:extLst>
              <a:ext uri="{FF2B5EF4-FFF2-40B4-BE49-F238E27FC236}">
                <a16:creationId xmlns:a16="http://schemas.microsoft.com/office/drawing/2014/main" id="{548218D2-FA29-976C-53D4-735C22B61641}"/>
              </a:ext>
            </a:extLst>
          </p:cNvPr>
          <p:cNvSpPr txBox="1">
            <a:spLocks/>
          </p:cNvSpPr>
          <p:nvPr/>
        </p:nvSpPr>
        <p:spPr>
          <a:xfrm flipH="1">
            <a:off x="92050" y="545873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DISPLAY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8DC95-4C03-4D74-3766-51716698D4A3}"/>
              </a:ext>
            </a:extLst>
          </p:cNvPr>
          <p:cNvSpPr txBox="1"/>
          <p:nvPr/>
        </p:nvSpPr>
        <p:spPr>
          <a:xfrm>
            <a:off x="9084039" y="1101440"/>
            <a:ext cx="3107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ACCIDENT PER YEAR</a:t>
            </a:r>
            <a:endParaRPr lang="en-IN" sz="24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1A94205-3F9A-A78A-1009-0E59CFC94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4039" y="2947482"/>
            <a:ext cx="3107961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Highest death from aviation goes in between 1940-1950 at the peak of 650 deaths.</a:t>
            </a: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AA7C5F71-BB52-B7A9-E4C8-F548B6A32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0" y="1332272"/>
            <a:ext cx="8894553" cy="50682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64450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1F8A0-A64F-2F41-2A85-2168173A3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4650F-F793-E44A-31A2-36E21B308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7B5BC88-4F7D-7651-9855-81DEC9690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971843" y="486061"/>
            <a:ext cx="6967082" cy="6490280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['year'] =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pd.to_numeric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['year'], errors='coerce')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['fatalities'] =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pd.to_numeric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['fatalities'], errors='coerce')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df_clean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=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df.dropna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(subset=['year', 'fatalities'])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fatalities_per_year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=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df_clean.groupby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('year')['fatalities'].sum()</a:t>
            </a:r>
          </a:p>
          <a:p>
            <a:pPr algn="r"/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sns.set_style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("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whitegrid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")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plt.figure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figsize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=(12,6))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plt.bar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fatalities_per_year.index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fatalities_per_year.values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</a:t>
            </a:r>
          </a:p>
          <a:p>
            <a:pPr algn="r"/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color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plt.cm.magma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fatalities_per_year.values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/ max(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fatalities_per_year.values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)))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plt.title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('Total Fatalities per Year', </a:t>
            </a:r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fontsize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=16)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plt.xlabel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('Year')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plt.ylabel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('Fatalities')</a:t>
            </a:r>
          </a:p>
          <a:p>
            <a:pPr algn="r"/>
            <a:r>
              <a:rPr lang="en-IN" sz="14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plt.show</a:t>
            </a:r>
            <a:r>
              <a:rPr lang="en-IN" sz="14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()</a:t>
            </a:r>
          </a:p>
          <a:p>
            <a:pPr algn="r"/>
            <a:endParaRPr lang="en-IN" sz="14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C80E7C67-A3D0-FA11-1457-79CAB379D6D7}"/>
              </a:ext>
            </a:extLst>
          </p:cNvPr>
          <p:cNvSpPr txBox="1">
            <a:spLocks/>
          </p:cNvSpPr>
          <p:nvPr/>
        </p:nvSpPr>
        <p:spPr>
          <a:xfrm flipH="1">
            <a:off x="275722" y="227711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CODE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EE5F9-3C99-7602-3D2C-0D6AEDD8D314}"/>
              </a:ext>
            </a:extLst>
          </p:cNvPr>
          <p:cNvSpPr txBox="1"/>
          <p:nvPr/>
        </p:nvSpPr>
        <p:spPr>
          <a:xfrm>
            <a:off x="9084039" y="1101440"/>
            <a:ext cx="3107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FATALITIES PER YEAR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B94F185-DF56-211A-1F40-F79A9FC9B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5239" y="2921168"/>
            <a:ext cx="63197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Groups data by year and sums up fatalities.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Uses a bar chart with gradient colors (magma palette).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Shows which years had the most deaths</a:t>
            </a:r>
          </a:p>
        </p:txBody>
      </p:sp>
    </p:spTree>
    <p:extLst>
      <p:ext uri="{BB962C8B-B14F-4D97-AF65-F5344CB8AC3E}">
        <p14:creationId xmlns:p14="http://schemas.microsoft.com/office/powerpoint/2010/main" val="40408098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AB9AE-4AAE-0A14-92D7-D1D5D6DFC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EC5D8-CA94-C35F-FA49-B412B6ABD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F2A3F337-075A-F369-0FF8-E21D9C57E720}"/>
              </a:ext>
            </a:extLst>
          </p:cNvPr>
          <p:cNvSpPr txBox="1">
            <a:spLocks/>
          </p:cNvSpPr>
          <p:nvPr/>
        </p:nvSpPr>
        <p:spPr>
          <a:xfrm flipH="1">
            <a:off x="350673" y="690009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DISPLAY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F8D50-F64F-236C-65EE-374976DE088E}"/>
              </a:ext>
            </a:extLst>
          </p:cNvPr>
          <p:cNvSpPr txBox="1"/>
          <p:nvPr/>
        </p:nvSpPr>
        <p:spPr>
          <a:xfrm>
            <a:off x="9084039" y="1101440"/>
            <a:ext cx="3107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FATALITIES PER YEAR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518898-71C3-C776-3276-45A1599425BE}"/>
              </a:ext>
            </a:extLst>
          </p:cNvPr>
          <p:cNvSpPr txBox="1"/>
          <p:nvPr/>
        </p:nvSpPr>
        <p:spPr>
          <a:xfrm>
            <a:off x="9011283" y="3222806"/>
            <a:ext cx="318071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detect </a:t>
            </a:r>
            <a:r>
              <a:rPr lang="en-US" sz="2000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spikes in fatalities</a:t>
            </a:r>
            <a:r>
              <a:rPr 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</a:t>
            </a:r>
          </a:p>
          <a:p>
            <a:r>
              <a:rPr 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and identify the </a:t>
            </a:r>
            <a:r>
              <a:rPr lang="en-US" sz="2000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most tragic</a:t>
            </a:r>
          </a:p>
          <a:p>
            <a:r>
              <a:rPr lang="en-US" sz="2000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years</a:t>
            </a:r>
            <a:r>
              <a:rPr 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in aviation history</a:t>
            </a:r>
          </a:p>
          <a:p>
            <a:endParaRPr lang="en-US" sz="20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  <a:p>
            <a:r>
              <a:rPr lang="en-US" sz="2000" dirty="0">
                <a:solidFill>
                  <a:srgbClr val="7030A0"/>
                </a:solidFill>
                <a:highlight>
                  <a:srgbClr val="C0C0C0"/>
                </a:highlight>
                <a:latin typeface="Bahnschrift SemiLight SemiConde" panose="020B0502040204020203" pitchFamily="34" charset="0"/>
              </a:rPr>
              <a:t>Highest fatalities goes in between Year 1940-1960 at the peak 3400</a:t>
            </a:r>
            <a:endParaRPr lang="en-IN" sz="2000" dirty="0">
              <a:solidFill>
                <a:srgbClr val="7030A0"/>
              </a:solidFill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C5BC11D-A8F7-9261-182F-66D50A3CF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3105"/>
            <a:ext cx="8915084" cy="48532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0281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22D7C-53BE-79A8-4E7F-26CC08B1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2AB7-0E02-9C59-7683-34B86BE7A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F9C4FC6-7258-03BF-F1F1-D028FBD93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627069" y="1895135"/>
            <a:ext cx="6319750" cy="4445703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top_operators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=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['operator'].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value_counts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().head(10)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print(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top_operators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)</a:t>
            </a:r>
          </a:p>
          <a:p>
            <a:pPr algn="r"/>
            <a:endParaRPr lang="en-IN" sz="16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sns.barplot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(x=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top_operators.values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 y=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top_operators.index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 palette="crest")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plt.title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("Top 10 Operators by Number of Accidents",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fontsize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=15)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plt.xlabel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("Number of Accidents")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plt.ylabel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("Operator")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plt.show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()</a:t>
            </a:r>
          </a:p>
          <a:p>
            <a:pPr algn="r"/>
            <a:endParaRPr lang="en-IN" sz="16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C8C8264F-4261-989F-161F-C543B917E30A}"/>
              </a:ext>
            </a:extLst>
          </p:cNvPr>
          <p:cNvSpPr txBox="1">
            <a:spLocks/>
          </p:cNvSpPr>
          <p:nvPr/>
        </p:nvSpPr>
        <p:spPr>
          <a:xfrm flipH="1">
            <a:off x="650476" y="1229325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CODE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92FEBF-548D-682B-FBBA-93AEC6C599FA}"/>
              </a:ext>
            </a:extLst>
          </p:cNvPr>
          <p:cNvSpPr txBox="1"/>
          <p:nvPr/>
        </p:nvSpPr>
        <p:spPr>
          <a:xfrm>
            <a:off x="7195279" y="1101440"/>
            <a:ext cx="49967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Top 10 Operators with Most Accidents</a:t>
            </a:r>
            <a:endParaRPr lang="en-IN" sz="24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DA6AA51-7AE6-C2AB-1A30-21C4541D5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681" y="1922522"/>
            <a:ext cx="609600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Counts accidents per airline/operator.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Selects top 10 operators.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Displays results in a horizontal bar chart using Seaborn.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C11CEA-CDCC-60C6-6DBF-E48D5409F257}"/>
              </a:ext>
            </a:extLst>
          </p:cNvPr>
          <p:cNvSpPr txBox="1"/>
          <p:nvPr/>
        </p:nvSpPr>
        <p:spPr>
          <a:xfrm>
            <a:off x="8513163" y="3297603"/>
            <a:ext cx="2360951" cy="3139321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b="0" i="0" dirty="0">
                <a:effectLst/>
                <a:latin typeface="Courier New" panose="02070309020205020404" pitchFamily="49" charset="0"/>
              </a:rPr>
              <a:t>operator </a:t>
            </a:r>
          </a:p>
          <a:p>
            <a:r>
              <a:rPr lang="en-IN" b="0" i="0" dirty="0">
                <a:effectLst/>
                <a:latin typeface="Courier New" panose="02070309020205020404" pitchFamily="49" charset="0"/>
              </a:rPr>
              <a:t>USAF       929 </a:t>
            </a:r>
          </a:p>
          <a:p>
            <a:r>
              <a:rPr lang="en-IN" b="0" i="0" dirty="0">
                <a:effectLst/>
                <a:latin typeface="Courier New" panose="02070309020205020404" pitchFamily="49" charset="0"/>
              </a:rPr>
              <a:t>USAAF      845 </a:t>
            </a:r>
          </a:p>
          <a:p>
            <a:r>
              <a:rPr lang="en-IN" b="0" i="0" dirty="0">
                <a:effectLst/>
                <a:latin typeface="Courier New" panose="02070309020205020404" pitchFamily="49" charset="0"/>
              </a:rPr>
              <a:t>RAF        710 </a:t>
            </a:r>
          </a:p>
          <a:p>
            <a:r>
              <a:rPr lang="en-IN" b="0" i="0" dirty="0">
                <a:effectLst/>
                <a:latin typeface="Courier New" panose="02070309020205020404" pitchFamily="49" charset="0"/>
              </a:rPr>
              <a:t>US Navy    493 </a:t>
            </a:r>
          </a:p>
          <a:p>
            <a:r>
              <a:rPr lang="en-IN" b="0" i="0" dirty="0">
                <a:effectLst/>
                <a:latin typeface="Courier New" panose="02070309020205020404" pitchFamily="49" charset="0"/>
              </a:rPr>
              <a:t>private    280 </a:t>
            </a:r>
          </a:p>
          <a:p>
            <a:r>
              <a:rPr lang="en-IN" b="0" i="0" dirty="0">
                <a:effectLst/>
                <a:latin typeface="Courier New" panose="02070309020205020404" pitchFamily="49" charset="0"/>
              </a:rPr>
              <a:t>German AF  266 </a:t>
            </a:r>
          </a:p>
          <a:p>
            <a:r>
              <a:rPr lang="en-IN" b="0" i="0" dirty="0">
                <a:effectLst/>
                <a:latin typeface="Courier New" panose="02070309020205020404" pitchFamily="49" charset="0"/>
              </a:rPr>
              <a:t>Aeroflot   183 </a:t>
            </a:r>
          </a:p>
          <a:p>
            <a:r>
              <a:rPr lang="en-IN" b="0" i="0" dirty="0">
                <a:effectLst/>
                <a:latin typeface="Courier New" panose="02070309020205020404" pitchFamily="49" charset="0"/>
              </a:rPr>
              <a:t>Unknown    146 </a:t>
            </a:r>
          </a:p>
          <a:p>
            <a:r>
              <a:rPr lang="en-IN" b="0" i="0" dirty="0">
                <a:effectLst/>
                <a:latin typeface="Courier New" panose="02070309020205020404" pitchFamily="49" charset="0"/>
              </a:rPr>
              <a:t>Air France 122 </a:t>
            </a:r>
          </a:p>
          <a:p>
            <a:r>
              <a:rPr lang="en-IN" b="0" i="0" dirty="0">
                <a:effectLst/>
                <a:latin typeface="Courier New" panose="02070309020205020404" pitchFamily="49" charset="0"/>
              </a:rPr>
              <a:t>Soviet AF  119</a:t>
            </a:r>
            <a:endParaRPr lang="en-IN" dirty="0"/>
          </a:p>
        </p:txBody>
      </p:sp>
      <p:sp>
        <p:nvSpPr>
          <p:cNvPr id="10" name="Subtitle 5">
            <a:extLst>
              <a:ext uri="{FF2B5EF4-FFF2-40B4-BE49-F238E27FC236}">
                <a16:creationId xmlns:a16="http://schemas.microsoft.com/office/drawing/2014/main" id="{3E8C05A0-EBFE-8D7B-C9FA-AFF6F14C7556}"/>
              </a:ext>
            </a:extLst>
          </p:cNvPr>
          <p:cNvSpPr txBox="1">
            <a:spLocks/>
          </p:cNvSpPr>
          <p:nvPr/>
        </p:nvSpPr>
        <p:spPr>
          <a:xfrm flipH="1">
            <a:off x="7179038" y="3601286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DISPLAY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EAF536B-650E-3997-1083-64B7CCD24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5820" y="5182860"/>
            <a:ext cx="609600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Highest Accidents are caused by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USAF airlines at peak 929.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814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6FB1A-9F9B-7C23-ED8B-DC69DDBB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B885-5BD4-B7B4-1C15-6364606EE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3ED90D-6DBF-B9D0-013D-3E50B597AC53}"/>
              </a:ext>
            </a:extLst>
          </p:cNvPr>
          <p:cNvSpPr txBox="1"/>
          <p:nvPr/>
        </p:nvSpPr>
        <p:spPr>
          <a:xfrm>
            <a:off x="7195279" y="1101440"/>
            <a:ext cx="49967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Top 10 Operators with Most Accidents</a:t>
            </a:r>
            <a:endParaRPr lang="en-IN" sz="24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  <p:sp>
        <p:nvSpPr>
          <p:cNvPr id="10" name="Subtitle 5">
            <a:extLst>
              <a:ext uri="{FF2B5EF4-FFF2-40B4-BE49-F238E27FC236}">
                <a16:creationId xmlns:a16="http://schemas.microsoft.com/office/drawing/2014/main" id="{D82931A0-ADCA-1C65-3810-E6A3895D4CF0}"/>
              </a:ext>
            </a:extLst>
          </p:cNvPr>
          <p:cNvSpPr txBox="1">
            <a:spLocks/>
          </p:cNvSpPr>
          <p:nvPr/>
        </p:nvSpPr>
        <p:spPr>
          <a:xfrm flipH="1">
            <a:off x="525375" y="757338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DISPLAY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B42833F-6126-DB3D-8AFB-C8C20268F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7133" y="3045156"/>
            <a:ext cx="306486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Highest Accidents 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caused by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USAF airlines at peak 929.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385BE93E-0D01-F729-C632-D99FB876D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81" y="1556502"/>
            <a:ext cx="8823618" cy="52736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296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CCC16-55FB-5CA9-B78F-ED4369E2B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3CDBE-502C-61CB-3D4B-EE520063B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3ED19FB-7D03-4118-2BB1-E8D5119C4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455058" y="1487675"/>
            <a:ext cx="5640032" cy="2886727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sns.histplot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['fatalities'], bins=40,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color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='#ff7f50',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kde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=True)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plt.title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('Distribution of Fatalities per Accident',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fontsize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=15)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plt.xlabel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('Fatalities')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plt.ylabel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('Frequency')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plt.show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()</a:t>
            </a:r>
          </a:p>
          <a:p>
            <a:pPr algn="r"/>
            <a:endParaRPr lang="en-IN" sz="16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DA950957-E73B-212F-5DB0-5A32B02A15F9}"/>
              </a:ext>
            </a:extLst>
          </p:cNvPr>
          <p:cNvSpPr txBox="1">
            <a:spLocks/>
          </p:cNvSpPr>
          <p:nvPr/>
        </p:nvSpPr>
        <p:spPr>
          <a:xfrm flipH="1">
            <a:off x="575525" y="948632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CODE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EFB8A8-5020-CD44-4DA1-95F0E202F504}"/>
              </a:ext>
            </a:extLst>
          </p:cNvPr>
          <p:cNvSpPr txBox="1"/>
          <p:nvPr/>
        </p:nvSpPr>
        <p:spPr>
          <a:xfrm>
            <a:off x="6670623" y="1101440"/>
            <a:ext cx="55213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HISTOGRAM OF FATALITIES PER ACCIDENT</a:t>
            </a:r>
            <a:endParaRPr lang="en-IN" sz="2400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  <p:sp>
        <p:nvSpPr>
          <p:cNvPr id="10" name="Subtitle 5">
            <a:extLst>
              <a:ext uri="{FF2B5EF4-FFF2-40B4-BE49-F238E27FC236}">
                <a16:creationId xmlns:a16="http://schemas.microsoft.com/office/drawing/2014/main" id="{6488124E-362C-B5BA-DBC0-C109FEA311D5}"/>
              </a:ext>
            </a:extLst>
          </p:cNvPr>
          <p:cNvSpPr txBox="1">
            <a:spLocks/>
          </p:cNvSpPr>
          <p:nvPr/>
        </p:nvSpPr>
        <p:spPr>
          <a:xfrm flipH="1">
            <a:off x="5525662" y="1641838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DISPLAY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8FF77B5-D203-D261-BB1F-CE93BCA2D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93705"/>
            <a:ext cx="718028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 It Creates a histogram to show how fatalities are distributed.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The KDE (Kernel Density Estimate) line smooths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the distribution curve.</a:t>
            </a:r>
          </a:p>
        </p:txBody>
      </p:sp>
      <p:pic>
        <p:nvPicPr>
          <p:cNvPr id="12291" name="Picture 3">
            <a:extLst>
              <a:ext uri="{FF2B5EF4-FFF2-40B4-BE49-F238E27FC236}">
                <a16:creationId xmlns:a16="http://schemas.microsoft.com/office/drawing/2014/main" id="{958F2FC7-6582-FC98-9FE3-B142B0F0E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912" y="2159839"/>
            <a:ext cx="5715000" cy="4429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6CCA20-9D7A-C1F0-3DB2-A41598A6904A}"/>
              </a:ext>
            </a:extLst>
          </p:cNvPr>
          <p:cNvSpPr txBox="1"/>
          <p:nvPr/>
        </p:nvSpPr>
        <p:spPr>
          <a:xfrm>
            <a:off x="1043603" y="5972028"/>
            <a:ext cx="6400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Light SemiConde" panose="020B0502040204020203" pitchFamily="34" charset="0"/>
              </a:rPr>
              <a:t>It makes us understand whether</a:t>
            </a:r>
          </a:p>
          <a:p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b="1" dirty="0">
                <a:latin typeface="Bahnschrift SemiLight SemiConde" panose="020B0502040204020203" pitchFamily="34" charset="0"/>
              </a:rPr>
              <a:t>most accidents cause few or many deaths</a:t>
            </a:r>
            <a:r>
              <a:rPr lang="en-US" sz="2000" dirty="0">
                <a:latin typeface="Bahnschrift SemiLight SemiConde" panose="020B0502040204020203" pitchFamily="34" charset="0"/>
              </a:rPr>
              <a:t>.</a:t>
            </a:r>
            <a:endParaRPr lang="en-IN" sz="2000" dirty="0">
              <a:latin typeface="Bahnschrift SemiLight SemiCond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008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757F8-FC12-3103-BF35-88F154DA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B175A-CD87-4573-1F79-5F797E4C4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F2CE5F2-61C0-917E-4BEA-B0635BAA6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455058" y="1373538"/>
            <a:ext cx="5976436" cy="4853164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fig = px.scatter_3d(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            x='year',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            y='fatalities',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            z='type',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           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color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='fatalities',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            size='fatalities',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           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color_continuous_scale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='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viridis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',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            title='3D Visualization: Year vs Fatalities vs Aircraft Type')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fig.show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()</a:t>
            </a:r>
          </a:p>
          <a:p>
            <a:pPr algn="r"/>
            <a:endParaRPr lang="en-IN" sz="16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C87AF5A0-20AD-61F8-0763-C8A88C5652E9}"/>
              </a:ext>
            </a:extLst>
          </p:cNvPr>
          <p:cNvSpPr txBox="1">
            <a:spLocks/>
          </p:cNvSpPr>
          <p:nvPr/>
        </p:nvSpPr>
        <p:spPr>
          <a:xfrm flipH="1">
            <a:off x="575525" y="948632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CODE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8D97BE-F444-B190-5191-BC2C91F4BB16}"/>
              </a:ext>
            </a:extLst>
          </p:cNvPr>
          <p:cNvSpPr txBox="1"/>
          <p:nvPr/>
        </p:nvSpPr>
        <p:spPr>
          <a:xfrm>
            <a:off x="8349521" y="1101440"/>
            <a:ext cx="38424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3D SCATTER PLOT (PLOTLY)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17D95F-818A-1AC0-2BB4-6B016C9E5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881" y="2815412"/>
            <a:ext cx="59764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Uses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Plotly’s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 interactive 3D scatter plot.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Plots year (x-axis), fatalities (y-axis), and type (z-axis).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The Color and bubble size represent number of fatalities.</a:t>
            </a:r>
          </a:p>
        </p:txBody>
      </p:sp>
    </p:spTree>
    <p:extLst>
      <p:ext uri="{BB962C8B-B14F-4D97-AF65-F5344CB8AC3E}">
        <p14:creationId xmlns:p14="http://schemas.microsoft.com/office/powerpoint/2010/main" val="25968298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D5E7A-67D7-A721-A685-0235C263E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9478-51D8-CB0C-4D5F-DDEFB1EC5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9ADB465C-CBCC-A2D6-D218-1674C5200994}"/>
              </a:ext>
            </a:extLst>
          </p:cNvPr>
          <p:cNvSpPr txBox="1">
            <a:spLocks/>
          </p:cNvSpPr>
          <p:nvPr/>
        </p:nvSpPr>
        <p:spPr>
          <a:xfrm flipH="1">
            <a:off x="575525" y="948632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DISPLAY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1E490-24D6-D274-1165-38D0A621D288}"/>
              </a:ext>
            </a:extLst>
          </p:cNvPr>
          <p:cNvSpPr txBox="1"/>
          <p:nvPr/>
        </p:nvSpPr>
        <p:spPr>
          <a:xfrm>
            <a:off x="8349521" y="1101440"/>
            <a:ext cx="38424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3D SCATTER PLOT (PLOTLY)</a:t>
            </a:r>
          </a:p>
        </p:txBody>
      </p:sp>
      <p:pic>
        <p:nvPicPr>
          <p:cNvPr id="10" name="Picture 9" descr="A graph showing a graph of data&#10;&#10;AI-generated content may be incorrect.">
            <a:extLst>
              <a:ext uri="{FF2B5EF4-FFF2-40B4-BE49-F238E27FC236}">
                <a16:creationId xmlns:a16="http://schemas.microsoft.com/office/drawing/2014/main" id="{A0E5C5A1-24B5-8A33-C7F9-4DADBFA7A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" y="1708175"/>
            <a:ext cx="11144250" cy="5000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A4ADF6-0C4A-E5E0-41A9-9BBCD55FD6C7}"/>
              </a:ext>
            </a:extLst>
          </p:cNvPr>
          <p:cNvSpPr txBox="1"/>
          <p:nvPr/>
        </p:nvSpPr>
        <p:spPr>
          <a:xfrm>
            <a:off x="523875" y="6062469"/>
            <a:ext cx="61384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explore </a:t>
            </a:r>
            <a:r>
              <a:rPr lang="en-US" b="1" dirty="0"/>
              <a:t>multi-dimensional relationships</a:t>
            </a:r>
            <a:r>
              <a:rPr lang="en-US" dirty="0"/>
              <a:t> — how aircraft types and years affect fatality levels.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43867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F43A2-0CEA-1734-0366-7FC606535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BA16-939F-0D7D-9DFC-2B551D914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F7C141C-87FC-F1D6-7D99-10AC1919D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874783" y="163201"/>
            <a:ext cx="7095701" cy="7335747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['year'] =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pd.to_numeric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['year'], errors='coerce')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['fatalities'] =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pd.to_numeric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['fatalities'], errors='coerce')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df_clean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=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df.dropna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(subset=['year', 'fatalities'])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yearly =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df_clean.groupby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('year',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as_index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=False)['fatalities'].sum()</a:t>
            </a:r>
          </a:p>
          <a:p>
            <a:pPr algn="r"/>
            <a:endParaRPr lang="en-IN" sz="16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fig =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px.line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(yearly,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      x='year',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      y='fatalities',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      markers=True,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      title='Interactive Fatalities Trend (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Plotly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)',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            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color_discrete_sequence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=['#ff4d6d'])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fig.update_traces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(line=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dict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(width=3))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fig.update_layout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(template='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plotly_white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')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fig.show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()</a:t>
            </a:r>
          </a:p>
          <a:p>
            <a:pPr algn="r"/>
            <a:endParaRPr lang="en-IN" sz="16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0952F6AA-BED6-EAA7-0CEE-EDE2054B1C79}"/>
              </a:ext>
            </a:extLst>
          </p:cNvPr>
          <p:cNvSpPr txBox="1">
            <a:spLocks/>
          </p:cNvSpPr>
          <p:nvPr/>
        </p:nvSpPr>
        <p:spPr>
          <a:xfrm flipH="1">
            <a:off x="1190121" y="3572724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CODE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DE18D-F34C-4796-E167-44869371FDFC}"/>
              </a:ext>
            </a:extLst>
          </p:cNvPr>
          <p:cNvSpPr txBox="1"/>
          <p:nvPr/>
        </p:nvSpPr>
        <p:spPr>
          <a:xfrm>
            <a:off x="7360093" y="1080215"/>
            <a:ext cx="4696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INTERACTIVE LINE CHART (PLOTLY)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416DA95-915D-4368-6D60-B27A77D8A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0918" y="2921168"/>
            <a:ext cx="583609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Groups and sums fatalities by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Plots an interactive line chart with hover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Uses a modern pink-red tone and clean white theme.</a:t>
            </a:r>
          </a:p>
        </p:txBody>
      </p:sp>
    </p:spTree>
    <p:extLst>
      <p:ext uri="{BB962C8B-B14F-4D97-AF65-F5344CB8AC3E}">
        <p14:creationId xmlns:p14="http://schemas.microsoft.com/office/powerpoint/2010/main" val="2528758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F9E16-AFB6-4D7B-A767-7DFFB3E24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55C1-6852-7A7D-BEE6-CAB000916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C26D0AA5-6963-AFF2-2008-5B8C7E946D30}"/>
              </a:ext>
            </a:extLst>
          </p:cNvPr>
          <p:cNvSpPr txBox="1">
            <a:spLocks/>
          </p:cNvSpPr>
          <p:nvPr/>
        </p:nvSpPr>
        <p:spPr>
          <a:xfrm flipH="1">
            <a:off x="545544" y="794347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DISPLAY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B1447-E636-4722-5803-E63C873D4790}"/>
              </a:ext>
            </a:extLst>
          </p:cNvPr>
          <p:cNvSpPr txBox="1"/>
          <p:nvPr/>
        </p:nvSpPr>
        <p:spPr>
          <a:xfrm>
            <a:off x="7360093" y="1080215"/>
            <a:ext cx="4696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INTERACTIVE LINE CHART (PLOTLY)</a:t>
            </a:r>
          </a:p>
        </p:txBody>
      </p:sp>
      <p:pic>
        <p:nvPicPr>
          <p:cNvPr id="10" name="Picture 9" descr="A graph showing a line of red lines">
            <a:extLst>
              <a:ext uri="{FF2B5EF4-FFF2-40B4-BE49-F238E27FC236}">
                <a16:creationId xmlns:a16="http://schemas.microsoft.com/office/drawing/2014/main" id="{64578CBC-A797-7218-201E-E4CBBFEAC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" y="1677492"/>
            <a:ext cx="11144250" cy="5000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C7996E89-CFD2-CC23-8CE0-CAB75083D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5627" y="1246605"/>
            <a:ext cx="61400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Year 1944 records highest fatalities (3434).</a:t>
            </a:r>
          </a:p>
        </p:txBody>
      </p:sp>
    </p:spTree>
    <p:extLst>
      <p:ext uri="{BB962C8B-B14F-4D97-AF65-F5344CB8AC3E}">
        <p14:creationId xmlns:p14="http://schemas.microsoft.com/office/powerpoint/2010/main" val="18187259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700">
              <a:srgbClr val="C6C6C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498AD-590D-0AA2-9B3D-F8101E88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9EA84-BE2A-EE29-960C-9FEC85292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5662" y="299804"/>
            <a:ext cx="6531349" cy="780411"/>
          </a:xfrm>
        </p:spPr>
        <p:txBody>
          <a:bodyPr>
            <a:normAutofit/>
          </a:bodyPr>
          <a:lstStyle/>
          <a:p>
            <a:r>
              <a:rPr lang="en-US" sz="4400" dirty="0"/>
              <a:t>Civil aviation accidents</a:t>
            </a:r>
            <a:endParaRPr lang="en-IN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2C66A6A-8B63-4607-660A-31CBBB238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104931" y="1338565"/>
            <a:ext cx="5836092" cy="3644301"/>
          </a:xfrm>
          <a:prstGeom prst="roundRect">
            <a:avLst>
              <a:gd name="adj" fmla="val 25963"/>
            </a:avLst>
          </a:prstGeo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mean_fatalities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=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np.mean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['fatalities'])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median_fatalities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=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np.median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['fatalities'])</a:t>
            </a:r>
          </a:p>
          <a:p>
            <a:pPr algn="r"/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std_fatalities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= 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np.std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(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df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['fatalities'])</a:t>
            </a:r>
          </a:p>
          <a:p>
            <a:pPr algn="r"/>
            <a:endParaRPr lang="en-IN" sz="16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print(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f"Mean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Fatalities: {mean_fatalities:.2f}")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print(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f"Median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Fatalities: {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median_fatalities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}")</a:t>
            </a:r>
          </a:p>
          <a:p>
            <a:pPr algn="r"/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print(</a:t>
            </a:r>
            <a:r>
              <a:rPr lang="en-IN" sz="1600" cap="none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f"Standard</a:t>
            </a:r>
            <a:r>
              <a:rPr lang="en-IN" sz="1600" cap="none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Deviation: {std_fatalities:.2f}")</a:t>
            </a:r>
          </a:p>
          <a:p>
            <a:pPr algn="r"/>
            <a:endParaRPr lang="en-IN" sz="1600" cap="none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E8B333F1-CA77-CB80-69C9-4EE4F6087DA0}"/>
              </a:ext>
            </a:extLst>
          </p:cNvPr>
          <p:cNvSpPr txBox="1">
            <a:spLocks/>
          </p:cNvSpPr>
          <p:nvPr/>
        </p:nvSpPr>
        <p:spPr>
          <a:xfrm flipH="1">
            <a:off x="515564" y="821865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CODE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248A3-D0C6-D461-12EF-A1AA8BCC1E82}"/>
              </a:ext>
            </a:extLst>
          </p:cNvPr>
          <p:cNvSpPr txBox="1"/>
          <p:nvPr/>
        </p:nvSpPr>
        <p:spPr>
          <a:xfrm>
            <a:off x="8544393" y="1080215"/>
            <a:ext cx="3512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DESCRIPTIVE STATISTICS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EF57362-576F-E045-0AE6-4FB22139A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1161" y="2298442"/>
            <a:ext cx="695543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Calculates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Mean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Median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Standard Deviation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 of fatalities.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Provides central tendency and variability.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BA6A8A-FFCF-7753-B092-037C3EE75BE3}"/>
              </a:ext>
            </a:extLst>
          </p:cNvPr>
          <p:cNvSpPr txBox="1"/>
          <p:nvPr/>
        </p:nvSpPr>
        <p:spPr>
          <a:xfrm>
            <a:off x="5525662" y="3319874"/>
            <a:ext cx="6385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It summarizes the </a:t>
            </a:r>
            <a:r>
              <a:rPr lang="en-US" b="1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average scale and spread</a:t>
            </a:r>
            <a:r>
              <a:rPr lang="en-US" dirty="0">
                <a:highlight>
                  <a:srgbClr val="C0C0C0"/>
                </a:highlight>
                <a:latin typeface="Bahnschrift SemiLight SemiConde" panose="020B0502040204020203" pitchFamily="34" charset="0"/>
              </a:rPr>
              <a:t> of fatal accidents in one glance.</a:t>
            </a:r>
            <a:endParaRPr lang="en-IN" dirty="0">
              <a:highlight>
                <a:srgbClr val="C0C0C0"/>
              </a:highlight>
              <a:latin typeface="Bahnschrift SemiLight SemiConde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B31947-5CD2-75F0-40CB-C3721B7BA876}"/>
              </a:ext>
            </a:extLst>
          </p:cNvPr>
          <p:cNvSpPr txBox="1"/>
          <p:nvPr/>
        </p:nvSpPr>
        <p:spPr>
          <a:xfrm>
            <a:off x="7210349" y="4830649"/>
            <a:ext cx="3657599" cy="1200329"/>
          </a:xfrm>
          <a:prstGeom prst="rect">
            <a:avLst/>
          </a:prstGeom>
          <a:gradFill flip="none" rotWithShape="1">
            <a:gsLst>
              <a:gs pos="0">
                <a:schemeClr val="dk1">
                  <a:tint val="94000"/>
                  <a:satMod val="100000"/>
                  <a:lumMod val="108000"/>
                </a:schemeClr>
              </a:gs>
              <a:gs pos="50000">
                <a:schemeClr val="dk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dk1">
                  <a:shade val="72000"/>
                  <a:satMod val="120000"/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Mean Fatalities: 6.17</a:t>
            </a:r>
          </a:p>
          <a:p>
            <a:r>
              <a:rPr lang="en-IN" sz="2400" dirty="0"/>
              <a:t>Median Fatalities: 0.0</a:t>
            </a:r>
          </a:p>
          <a:p>
            <a:r>
              <a:rPr lang="en-IN" sz="2400" dirty="0"/>
              <a:t>Standard Deviation: 18.74</a:t>
            </a:r>
          </a:p>
        </p:txBody>
      </p:sp>
      <p:sp>
        <p:nvSpPr>
          <p:cNvPr id="12" name="Subtitle 5">
            <a:extLst>
              <a:ext uri="{FF2B5EF4-FFF2-40B4-BE49-F238E27FC236}">
                <a16:creationId xmlns:a16="http://schemas.microsoft.com/office/drawing/2014/main" id="{E963A489-9967-7185-57D9-42A34EEDDF00}"/>
              </a:ext>
            </a:extLst>
          </p:cNvPr>
          <p:cNvSpPr txBox="1">
            <a:spLocks/>
          </p:cNvSpPr>
          <p:nvPr/>
        </p:nvSpPr>
        <p:spPr>
          <a:xfrm flipH="1">
            <a:off x="5525662" y="5426043"/>
            <a:ext cx="1334125" cy="516700"/>
          </a:xfrm>
          <a:prstGeom prst="roundRect">
            <a:avLst>
              <a:gd name="adj" fmla="val 25963"/>
            </a:avLst>
          </a:prstGeom>
          <a:ln w="9525" cap="flat" cmpd="sng" algn="ctr">
            <a:noFill/>
            <a:prstDash val="solid"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isometricOffAxis1Right"/>
            <a:lightRig rig="freezing" dir="t"/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cap="none" dirty="0">
                <a:solidFill>
                  <a:schemeClr val="bg1"/>
                </a:solidFill>
                <a:latin typeface="Bookman Old Style" panose="02050604050505020204" pitchFamily="18" charset="0"/>
              </a:rPr>
              <a:t>DISPLAY</a:t>
            </a:r>
            <a:endParaRPr lang="en-IN" sz="1800" cap="none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104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155</TotalTime>
  <Words>2152</Words>
  <Application>Microsoft Office PowerPoint</Application>
  <PresentationFormat>Widescreen</PresentationFormat>
  <Paragraphs>342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Bahnschrift SemiLight SemiConde</vt:lpstr>
      <vt:lpstr>Bookman Old Style</vt:lpstr>
      <vt:lpstr>Corbel</vt:lpstr>
      <vt:lpstr>Courier New</vt:lpstr>
      <vt:lpstr>Tw Cen MT</vt:lpstr>
      <vt:lpstr>Droplet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  <vt:lpstr>Civil aviation accidents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Arjun Singh</dc:creator>
  <cp:lastModifiedBy>Arjun Singh</cp:lastModifiedBy>
  <cp:revision>4</cp:revision>
  <dcterms:created xsi:type="dcterms:W3CDTF">2025-11-02T12:34:36Z</dcterms:created>
  <dcterms:modified xsi:type="dcterms:W3CDTF">2025-11-05T14:20:43Z</dcterms:modified>
</cp:coreProperties>
</file>